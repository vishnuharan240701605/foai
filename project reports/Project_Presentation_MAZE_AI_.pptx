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1D3BC5-781C-45EB-984E-ED1D5B25B570}" v="3" dt="2026-10-19T13:20:45.5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43800" y="1143000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936992" y="1143000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330183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23376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16568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09760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902952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0296144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689336" y="1143000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543800" y="1536192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936992" y="1536192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330183" y="1536192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723376" y="1536192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16568" y="1536192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509760" y="1536192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902952" y="1536192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0296144" y="1536192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0689336" y="1536192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43800" y="1929384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36992" y="1929384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330183" y="1929384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723376" y="1929384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16568" y="1929384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09760" y="1929384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02952" y="1929384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296144" y="1929384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0689336" y="1929384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543800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36992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330183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723376" y="2322576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9116568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509760" y="2322576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9902952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10296144" y="2322576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10689336" y="2322576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543800" y="2715768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936992" y="2715768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330183" y="2715768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723376" y="2715768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16568" y="2715768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509760" y="2715768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902952" y="2715768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0296144" y="2715768"/>
            <a:ext cx="310896" cy="310896"/>
          </a:xfrm>
          <a:prstGeom prst="rect">
            <a:avLst/>
          </a:prstGeom>
          <a:solidFill>
            <a:srgbClr val="3070DC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10689336" y="2715768"/>
            <a:ext cx="310896" cy="310896"/>
          </a:xfrm>
          <a:prstGeom prst="rect">
            <a:avLst/>
          </a:prstGeom>
          <a:solidFill>
            <a:srgbClr val="1F2F4A"/>
          </a:solidFill>
          <a:ln>
            <a:solidFill>
              <a:srgbClr val="121F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77240" y="1143000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4200" b="1">
                <a:solidFill>
                  <a:srgbClr val="FFFFFF"/>
                </a:solidFill>
                <a:latin typeface="Aptos"/>
              </a:defRPr>
            </a:pPr>
            <a:r>
              <a:t>MAZE AI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20574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400" b="1">
                <a:solidFill>
                  <a:srgbClr val="2CC3D2"/>
                </a:solidFill>
                <a:latin typeface="Aptos"/>
              </a:defRPr>
            </a:pPr>
            <a:r>
              <a:t>Intelligent Pathfinding Web Application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" y="2907792"/>
            <a:ext cx="6217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EBF1FA"/>
                </a:solidFill>
                <a:latin typeface="Aptos"/>
              </a:defRPr>
            </a:pPr>
            <a:r>
              <a:t>Artificial Intelligence • Search Algorithms • Dynamic Replanning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3694176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FBED4"/>
                </a:solidFill>
                <a:latin typeface="Aptos"/>
              </a:defRPr>
            </a:pPr>
            <a:r>
              <a:t>Technology: Python • Flask • HTML • CSS • JavaScript</a:t>
            </a:r>
          </a:p>
        </p:txBody>
      </p: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A030E1D-EBFE-0FFA-5BF4-294FCC12067B}"/>
              </a:ext>
            </a:extLst>
          </p:cNvPr>
          <p:cNvCxnSpPr/>
          <p:nvPr/>
        </p:nvCxnSpPr>
        <p:spPr>
          <a:xfrm>
            <a:off x="466344" y="4919472"/>
            <a:ext cx="10634472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394FADD-07E7-5337-DFB5-E97BE3615EEF}"/>
              </a:ext>
            </a:extLst>
          </p:cNvPr>
          <p:cNvSpPr txBox="1"/>
          <p:nvPr/>
        </p:nvSpPr>
        <p:spPr>
          <a:xfrm>
            <a:off x="466344" y="4974336"/>
            <a:ext cx="1874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TEAM :</a:t>
            </a:r>
            <a:endParaRPr lang="en-IN" sz="22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D0986A8-A23E-F28F-B4DF-2215A120BFD8}"/>
              </a:ext>
            </a:extLst>
          </p:cNvPr>
          <p:cNvSpPr txBox="1"/>
          <p:nvPr/>
        </p:nvSpPr>
        <p:spPr>
          <a:xfrm>
            <a:off x="950976" y="5541264"/>
            <a:ext cx="2295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M Vigneshwar</a:t>
            </a: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Roll No: 240701588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1A452A-7387-9D12-FB8D-A7C748380FD7}"/>
              </a:ext>
            </a:extLst>
          </p:cNvPr>
          <p:cNvSpPr txBox="1"/>
          <p:nvPr/>
        </p:nvSpPr>
        <p:spPr>
          <a:xfrm>
            <a:off x="4251960" y="5623560"/>
            <a:ext cx="297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 </a:t>
            </a:r>
            <a:r>
              <a:rPr lang="en-US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Vishnuharan</a:t>
            </a:r>
            <a:endParaRPr lang="en-US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  <a:p>
            <a:r>
              <a:rPr lang="en-US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Roll No: 240701605</a:t>
            </a:r>
            <a:endParaRPr lang="en-IN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What the MAZE AI application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100">
                <a:solidFill>
                  <a:srgbClr val="EBF1FA"/>
                </a:solidFill>
                <a:latin typeface="Aptos"/>
              </a:defRPr>
            </a:pPr>
            <a:r>
              <a:t>Represents a maze as a 2D grid of free cells and walls.</a:t>
            </a:r>
          </a:p>
          <a:p>
            <a:pPr>
              <a:spcAft>
                <a:spcPts val="1400"/>
              </a:spcAft>
              <a:defRPr sz="2100">
                <a:solidFill>
                  <a:srgbClr val="EBF1FA"/>
                </a:solidFill>
                <a:latin typeface="Aptos"/>
              </a:defRPr>
            </a:pPr>
            <a:r>
              <a:t>Generates random mazes and checks that a route from Start to Goal exists.</a:t>
            </a:r>
          </a:p>
          <a:p>
            <a:pPr>
              <a:spcAft>
                <a:spcPts val="1400"/>
              </a:spcAft>
              <a:defRPr sz="2100">
                <a:solidFill>
                  <a:srgbClr val="EBF1FA"/>
                </a:solidFill>
                <a:latin typeface="Aptos"/>
              </a:defRPr>
            </a:pPr>
            <a:r>
              <a:t>Finds routes using BFS, DFS, or A* search.</a:t>
            </a:r>
          </a:p>
          <a:p>
            <a:pPr>
              <a:spcAft>
                <a:spcPts val="1400"/>
              </a:spcAft>
              <a:defRPr sz="2100">
                <a:solidFill>
                  <a:srgbClr val="EBF1FA"/>
                </a:solidFill>
                <a:latin typeface="Aptos"/>
              </a:defRPr>
            </a:pPr>
            <a:r>
              <a:t>Visualizes the search/path and reports basic performance metrics.</a:t>
            </a:r>
          </a:p>
          <a:p>
            <a:pPr>
              <a:spcAft>
                <a:spcPts val="1400"/>
              </a:spcAft>
              <a:defRPr sz="2100">
                <a:solidFill>
                  <a:srgbClr val="EBF1FA"/>
                </a:solidFill>
                <a:latin typeface="Aptos"/>
              </a:defRPr>
            </a:pPr>
            <a:r>
              <a:t>Recalculates a route when a dynamic obstacle blocks the current path.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Why pathfinding needs an intelligent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EBF1FA"/>
                </a:solidFill>
                <a:latin typeface="Aptos"/>
              </a:defRPr>
            </a:pPr>
            <a:r>
              <a:t>A maze may contain many possible routes and blocked cells.</a:t>
            </a:r>
          </a:p>
          <a:p>
            <a:pPr>
              <a:spcAft>
                <a:spcPts val="1400"/>
              </a:spcAft>
              <a:defRPr sz="2000">
                <a:solidFill>
                  <a:srgbClr val="EBF1FA"/>
                </a:solidFill>
                <a:latin typeface="Aptos"/>
              </a:defRPr>
            </a:pPr>
            <a:r>
              <a:t>Choosing a route manually can be slow and may lead to dead ends.</a:t>
            </a:r>
          </a:p>
          <a:p>
            <a:pPr>
              <a:spcAft>
                <a:spcPts val="1400"/>
              </a:spcAft>
              <a:defRPr sz="2000">
                <a:solidFill>
                  <a:srgbClr val="EBF1FA"/>
                </a:solidFill>
                <a:latin typeface="Aptos"/>
              </a:defRPr>
            </a:pPr>
            <a:r>
              <a:t>Different search algorithms explore the maze in different ways.</a:t>
            </a:r>
          </a:p>
          <a:p>
            <a:pPr>
              <a:spcAft>
                <a:spcPts val="1400"/>
              </a:spcAft>
              <a:defRPr sz="2000">
                <a:solidFill>
                  <a:srgbClr val="EBF1FA"/>
                </a:solidFill>
                <a:latin typeface="Aptos"/>
              </a:defRPr>
            </a:pPr>
            <a:r>
              <a:t>When a new obstacle appears, the previous route may no longer be usable.</a:t>
            </a:r>
          </a:p>
          <a:p>
            <a:pPr>
              <a:spcAft>
                <a:spcPts val="1400"/>
              </a:spcAft>
              <a:defRPr sz="2000">
                <a:solidFill>
                  <a:srgbClr val="EBF1FA"/>
                </a:solidFill>
                <a:latin typeface="Aptos"/>
              </a:defRPr>
            </a:pPr>
            <a:r>
              <a:t>The project demonstrates automated route search and replanning.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rPr dirty="0"/>
              <a:t>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Main goals of the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55448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8097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Create a random maze with a valid Start and Goal.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1737360"/>
            <a:ext cx="5212080" cy="155448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10527" y="1901952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7" y="2395728"/>
            <a:ext cx="48097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Implement BFS, DFS and A* pathfinding.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212080" cy="155448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32688" y="3913631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407407"/>
            <a:ext cx="48097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Prevent routes from crossing walls or leaving the grid.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59" y="3749039"/>
            <a:ext cx="5212080" cy="155448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10527" y="3913631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REPLAN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7" y="4407407"/>
            <a:ext cx="4809744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Find a new route when an obstacle blocks the current one.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Web application request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933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1.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8716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HTML page, CSS styling and JavaScript grid interaction.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933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2. FLASK 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8716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Receives requests through REST API endpoints in app.py.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82880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933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3. AI ALGORITHMS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8716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BFS, DFS and A* compute paths and explored cells.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41648" y="22677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CC3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267712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700" b="1">
                <a:solidFill>
                  <a:srgbClr val="2CC3D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25196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The separate maze_ai.py file runs a command-line version with terminal visualization and performance comparison.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Maze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Grid values and movement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5623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FREE CELL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000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Value 0</a:t>
            </a:r>
          </a:p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The agent can move through this cell.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9164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85623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WALL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5000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Value 1</a:t>
            </a:r>
          </a:p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The agent cannot pass through this cell.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9164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85623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START / GOAL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5000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Start: (0, 0)</a:t>
            </a:r>
          </a:p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Goal: (rows − 1, cols − 1)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404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  <a:latin typeface="Aptos"/>
              </a:defRPr>
            </a:pPr>
            <a:r>
              <a:t>Movement is limited to Up, Down, Left and Right.</a:t>
            </a:r>
          </a:p>
          <a:p>
            <a:pPr>
              <a:spcAft>
                <a:spcPts val="1400"/>
              </a:spcAft>
              <a:defRPr sz="1800">
                <a:solidFill>
                  <a:srgbClr val="EBF1FA"/>
                </a:solidFill>
                <a:latin typeface="Aptos"/>
              </a:defRPr>
            </a:pPr>
            <a:r>
              <a:t>The generated maze retries if no route exists; after repeated failures, it uses a clear-grid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Algorithm 1: Breadth-First Search (BFS)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Explores the maze level by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Queue (FIFO)</a:t>
            </a:r>
          </a:p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First in, first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Visits nearby cells first and stores each cell's parent to reconstruct the route.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KEY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Finds a shortest path when every move has equal cost.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EBF1FA"/>
                </a:solidFill>
                <a:latin typeface="Aptos"/>
              </a:defRPr>
            </a:pPr>
            <a:r>
              <a:t>Useful for: shortest-route search in an unweighted grid.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Algorithm 2: Depth-First Search (DFS)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Explores one branch deeply before backtracking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DATA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Stack (LIFO)</a:t>
            </a:r>
          </a:p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Last in, first 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8172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Moves down a branch until it cannot continue, then explores another branch.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737360"/>
            <a:ext cx="324612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85048" y="1901952"/>
            <a:ext cx="284378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KEY PROPERTY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395728"/>
            <a:ext cx="284378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Can find a route, but does not guarantee the shortest route.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 b="1">
                <a:solidFill>
                  <a:srgbClr val="EBF1FA"/>
                </a:solidFill>
                <a:latin typeface="Aptos"/>
              </a:defRPr>
            </a:pPr>
            <a:r>
              <a:t>Useful for: demonstrating deep exploration and backtracking.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Algorithm 3: A* Search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Uses path cost plus an estimate to the goal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3200" b="1">
                <a:solidFill>
                  <a:srgbClr val="2CC3D2"/>
                </a:solidFill>
                <a:latin typeface="Aptos"/>
              </a:defRPr>
            </a:pPr>
            <a:r>
              <a:t>f(n) = g(n) + h(n)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74320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24128" y="29077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g(n)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40156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Cost of the path from Start to the current cell.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90288" y="29077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h(n)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340156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Manhattan distance estimate to the Goal.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743200"/>
            <a:ext cx="3383280" cy="14173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156448" y="290779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f(n)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3401568"/>
            <a:ext cx="2980944" cy="630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Combined score used to prioritize cells.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0060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Manhattan distance = |row₁ − row₂| + |col₁ − col₂|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Dynamic Obstacle Replanning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Responding when the route becomes blocked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C3D2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600200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Find an initial route using A*.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0487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C3D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404872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Introduce an obstacle on the grid.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9544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C3D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209544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Check whether the remaining route is blocked.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14216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C3D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4014216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Run A* again from the agent's current position.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818888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 b="1">
                <a:solidFill>
                  <a:srgbClr val="2CC3D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818888"/>
            <a:ext cx="9326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Follow the updated route if one exists.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Performance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Values collected by the implementations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383280" cy="16459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4767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PATH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41448"/>
            <a:ext cx="298094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Number of moves in the returned route (path cells minus one).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783080"/>
            <a:ext cx="3383280" cy="16459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94767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NODES EXPLORED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441448"/>
            <a:ext cx="298094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Number of grid positions processed during the search.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783080"/>
            <a:ext cx="3383280" cy="164592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94767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EXECUTION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441448"/>
            <a:ext cx="2980944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Measured in milliseconds for the search operation.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0">
                <a:solidFill>
                  <a:srgbClr val="AFBED4"/>
                </a:solidFill>
                <a:latin typeface="Aptos"/>
              </a:defRPr>
            </a:pPr>
            <a:r>
              <a:t>The project collects metrics; actual results depend on the generated maze and should be taken from a real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Technology Stack &amp; Project Files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Implementation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PYTHON + FLASK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0428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Backend logic and HTTP API endpoints.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64592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90288" y="181051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HTML / CSS /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0428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Browser interface and maze visualization (as described in README).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150876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1810512"/>
            <a:ext cx="29809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COMMAND-LINE 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304288"/>
            <a:ext cx="2980944" cy="722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maze_ai.py provides terminal visualization and algorithm comparison.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88620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app.py — Flask server</a:t>
            </a:r>
          </a:p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maze_ai.py — standalone console program</a:t>
            </a:r>
          </a:p>
          <a:p>
            <a:pPr>
              <a:spcAft>
                <a:spcPts val="700"/>
              </a:spcAft>
              <a:defRPr sz="1900" b="0">
                <a:solidFill>
                  <a:srgbClr val="EBF1FA"/>
                </a:solidFill>
                <a:latin typeface="Aptos"/>
              </a:defRPr>
            </a:pPr>
            <a:r>
              <a:t>README.md — project description and launch instructions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881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900" b="1">
                <a:solidFill>
                  <a:srgbClr val="FFFFFF"/>
                </a:solidFill>
                <a:latin typeface="Aptos"/>
              </a:defRPr>
            </a:pPr>
            <a:r>
              <a:t>Conclusion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115568"/>
            <a:ext cx="960120" cy="50292"/>
          </a:xfrm>
          <a:prstGeom prst="rect">
            <a:avLst/>
          </a:prstGeom>
          <a:solidFill>
            <a:srgbClr val="2C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58368" y="1261872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FBED4"/>
                </a:solidFill>
                <a:latin typeface="Aptos"/>
              </a:defRPr>
            </a:pPr>
            <a:r>
              <a:t>Summary and possible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01400" y="640080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700"/>
              </a:spcAft>
              <a:defRPr sz="1000" b="1">
                <a:solidFill>
                  <a:srgbClr val="AFBED4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212080" cy="182880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2CC3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1901952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95728"/>
            <a:ext cx="48097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Demonstrates grid-based pathfinding, algorithm comparison, route validation and dynamic replanning.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37360"/>
            <a:ext cx="5212080" cy="1828800"/>
          </a:xfrm>
          <a:prstGeom prst="roundRect">
            <a:avLst/>
          </a:prstGeom>
          <a:solidFill>
            <a:srgbClr val="233046"/>
          </a:solidFill>
          <a:ln w="19050">
            <a:solidFill>
              <a:srgbClr val="307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901952"/>
            <a:ext cx="4809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2CC3D2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95728"/>
            <a:ext cx="4809744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EBF1FA"/>
                </a:solidFill>
                <a:latin typeface="Aptos"/>
              </a:defRPr>
            </a:pPr>
            <a:r>
              <a:t>Add saved maze scenarios, richer metrics, configurable movement costs, and more interactive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700"/>
              </a:spcAft>
              <a:defRPr sz="3400" b="1">
                <a:solidFill>
                  <a:srgbClr val="2CC3D2"/>
                </a:solidFill>
                <a:latin typeface="Aptos"/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843</Words>
  <Application>Microsoft Office PowerPoint</Application>
  <PresentationFormat>Widescreen</PresentationFormat>
  <Paragraphs>138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 Vigneshwar</cp:lastModifiedBy>
  <cp:revision>3</cp:revision>
  <dcterms:created xsi:type="dcterms:W3CDTF">2013-01-27T09:14:16Z</dcterms:created>
  <dcterms:modified xsi:type="dcterms:W3CDTF">2026-10-19T13:20:45Z</dcterms:modified>
  <cp:category/>
</cp:coreProperties>
</file>